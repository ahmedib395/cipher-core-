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18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2089547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00FF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SYSTEM_INIT: CIPHERCORE_v2.0 ]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8224242" y="171450"/>
            <a:ext cx="7483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FF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SEC-LVL: ALPHA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357313" y="1562695"/>
            <a:ext cx="6429375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72000"/>
              </a:lnSpc>
              <a:buNone/>
            </a:pPr>
            <a:r>
              <a:rPr lang="en-US" sz="5200" b="1" kern="0" spc="-2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CIPHER</a:t>
            </a:r>
            <a:r>
              <a:rPr lang="en-US" sz="5200" b="1" kern="0" spc="-2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CORE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357313" y="2348508"/>
            <a:ext cx="6429375" cy="33086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50" dirty="0">
                <a:solidFill>
                  <a:srgbClr val="E0E0E0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Advanced Triple-Key Encryption Suite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357313" y="3362920"/>
            <a:ext cx="6429375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kern="0" spc="3" dirty="0">
                <a:solidFill>
                  <a:srgbClr val="00FF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SECURITY</a:t>
            </a:r>
            <a:endParaRPr lang="en-US" sz="12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EA619-64ED-C285-C7E1-27DC79242F80}"/>
              </a:ext>
            </a:extLst>
          </p:cNvPr>
          <p:cNvSpPr txBox="1"/>
          <p:nvPr/>
        </p:nvSpPr>
        <p:spPr>
          <a:xfrm>
            <a:off x="57091" y="3681643"/>
            <a:ext cx="2318263" cy="1335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100" dirty="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BY: Ahmed Elkelany  222000254</a:t>
            </a:r>
          </a:p>
          <a:p>
            <a:pPr lvl="0">
              <a:lnSpc>
                <a:spcPct val="150000"/>
              </a:lnSpc>
            </a:pPr>
            <a:r>
              <a:rPr lang="en-US" sz="1100" dirty="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     Ahmed Ibrahim   231007519</a:t>
            </a:r>
          </a:p>
          <a:p>
            <a:pPr lvl="0">
              <a:lnSpc>
                <a:spcPct val="150000"/>
              </a:lnSpc>
            </a:pPr>
            <a:r>
              <a:rPr lang="en-US" sz="1100" dirty="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     Ahmed </a:t>
            </a:r>
            <a:r>
              <a:rPr lang="en-US" sz="1100" dirty="0" err="1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Eldsoky</a:t>
            </a:r>
            <a:r>
              <a:rPr lang="en-US" sz="1100" dirty="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   231017692 </a:t>
            </a:r>
          </a:p>
          <a:p>
            <a:pPr lvl="0">
              <a:lnSpc>
                <a:spcPct val="150000"/>
              </a:lnSpc>
            </a:pPr>
            <a:r>
              <a:rPr lang="en-US" sz="1100" dirty="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    Mazen Mohamed 231004889</a:t>
            </a:r>
          </a:p>
          <a:p>
            <a:pPr lvl="0">
              <a:lnSpc>
                <a:spcPct val="150000"/>
              </a:lnSpc>
            </a:pPr>
            <a:r>
              <a:rPr lang="en-US" sz="1100" dirty="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    Ahmed </a:t>
            </a:r>
            <a:r>
              <a:rPr lang="en-US" sz="1100" dirty="0" err="1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sameh</a:t>
            </a:r>
            <a:r>
              <a:rPr lang="en-US" sz="1100" dirty="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      231017506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65822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PROJECT OVERVIEW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398389"/>
            <a:ext cx="1478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955602"/>
            <a:ext cx="3900488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Robust Security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318147"/>
            <a:ext cx="3900488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Develop a multi-parameter encryption system for secure data handling.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163956"/>
            <a:ext cx="3900488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Modular Field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526501"/>
            <a:ext cx="3900488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Operate over a 32-symbol modular field for consistent data transformation.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86313" y="1398389"/>
            <a:ext cx="19234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CORE FEATURES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786313" y="1955602"/>
            <a:ext cx="3900488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Triple-Key Logic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786313" y="2318147"/>
            <a:ext cx="3900488" cy="50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Utilizes three independent keys (k1, k2, k3) enhanced complexity.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86313" y="3163956"/>
            <a:ext cx="3900488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Bitstream Output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86313" y="3526501"/>
            <a:ext cx="3900488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Converts encrypted data into raw 6-bit tokens for secure transmission.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65822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TRIPLE-KEY AFFINE CIPHER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255514"/>
            <a:ext cx="8229600" cy="50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CipherCore enhances the standard cipher by introducing </a:t>
            </a:r>
            <a:r>
              <a:rPr lang="en-US" sz="14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three independent keys</a:t>
            </a: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(k1, k2, k3) for superior data protection.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944160"/>
            <a:ext cx="4007644" cy="986765"/>
          </a:xfrm>
          <a:prstGeom prst="rect">
            <a:avLst/>
          </a:prstGeom>
          <a:solidFill>
            <a:srgbClr val="00FFC8">
              <a:alpha val="10000"/>
            </a:srgbClr>
          </a:solidFill>
          <a:ln w="18288">
            <a:solidFill>
              <a:srgbClr val="00F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650" y="2029885"/>
            <a:ext cx="3650456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F9D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ENCRYPTION FORMULA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8650" y="2304920"/>
            <a:ext cx="365045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FC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E(x) = ((x + k1) * k2 + k3) mod 32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664869" y="1944160"/>
            <a:ext cx="4021931" cy="986765"/>
          </a:xfrm>
          <a:prstGeom prst="rect">
            <a:avLst/>
          </a:prstGeom>
          <a:solidFill>
            <a:srgbClr val="00FFC8">
              <a:alpha val="10000"/>
            </a:srgbClr>
          </a:solidFill>
          <a:ln w="18288">
            <a:solidFill>
              <a:srgbClr val="00F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50606" y="2029885"/>
            <a:ext cx="3664744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F9D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DECRYPTION FORMULA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850606" y="2304920"/>
            <a:ext cx="366474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FC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D(y) = ((y - k3) * k2⁻¹ - k1) mod 32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57200" y="3477153"/>
            <a:ext cx="822960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Constraint:</a:t>
            </a: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Key </a:t>
            </a:r>
            <a:r>
              <a:rPr lang="en-US" sz="14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k2</a:t>
            </a: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must be an </a:t>
            </a:r>
            <a:r>
              <a:rPr lang="en-US" sz="14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odd integer</a:t>
            </a: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to ensure the existence of a modular inverse in the mod-32 field.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65822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MODULAR ARITHMETIC &amp; FIELD THEORY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184077"/>
            <a:ext cx="21913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FIELD PROPERTIES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634133"/>
            <a:ext cx="3971925" cy="587573"/>
          </a:xfrm>
          <a:prstGeom prst="rect">
            <a:avLst/>
          </a:prstGeom>
          <a:solidFill>
            <a:srgbClr val="00FFC8">
              <a:alpha val="5000"/>
            </a:srgbClr>
          </a:solidFill>
          <a:ln w="9144">
            <a:solidFill>
              <a:srgbClr val="00F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0075" y="1705570"/>
            <a:ext cx="3686175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FC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GF(32)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457200" y="2278856"/>
            <a:ext cx="3971925" cy="84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system operates over a </a:t>
            </a:r>
            <a:r>
              <a:rPr lang="en-US" sz="14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32-symbol field</a:t>
            </a: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covering uppercase letters (A-Z) and specialized control markers.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3190382"/>
            <a:ext cx="3971925" cy="1120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Modular operations ensure that all outputs remain within a </a:t>
            </a:r>
            <a:r>
              <a:rPr lang="en-US" sz="14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fixed range</a:t>
            </a: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facilitating efficient hardware and software execution.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14875" y="1184077"/>
            <a:ext cx="22717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MODULAR INVERSE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14875" y="1634133"/>
            <a:ext cx="3971925" cy="587573"/>
          </a:xfrm>
          <a:prstGeom prst="rect">
            <a:avLst/>
          </a:prstGeom>
          <a:solidFill>
            <a:srgbClr val="00FFC8">
              <a:alpha val="5000"/>
            </a:srgbClr>
          </a:solidFill>
          <a:ln w="9144">
            <a:solidFill>
              <a:srgbClr val="00F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57750" y="1705570"/>
            <a:ext cx="3686175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FC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(k2 * k2⁻¹) mod 32 = 1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4714875" y="2279527"/>
            <a:ext cx="397192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Decryption requires finding the </a:t>
            </a:r>
            <a:r>
              <a:rPr lang="en-US" sz="14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modular multiplicative inverse</a:t>
            </a: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of k2.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14875" y="2888211"/>
            <a:ext cx="3971925" cy="84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Since the modulus is 32 (2⁵), k2 must be </a:t>
            </a:r>
            <a:r>
              <a:rPr lang="en-US" sz="14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coprime to 32</a:t>
            </a: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(i.e., any odd number) for the inverse to exist.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65822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BITSTREAM ENCODING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198364"/>
            <a:ext cx="82296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CipherCore transforms every character into a </a:t>
            </a:r>
            <a:r>
              <a:rPr lang="en-US" sz="1700" dirty="0">
                <a:solidFill>
                  <a:srgbClr val="FF9D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uniform 6-bit token</a:t>
            </a:r>
            <a:r>
              <a:rPr lang="en-US" sz="17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ensuring a continuous and secure data stream.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1981274"/>
            <a:ext cx="3885447" cy="348258"/>
          </a:xfrm>
          <a:prstGeom prst="rect">
            <a:avLst/>
          </a:prstGeom>
          <a:noFill/>
          <a:ln/>
        </p:spPr>
        <p:txBody>
          <a:bodyPr wrap="square" lIns="0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CHARACTER TYPE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342647" y="1981274"/>
            <a:ext cx="4344153" cy="348258"/>
          </a:xfrm>
          <a:prstGeom prst="rect">
            <a:avLst/>
          </a:prstGeom>
          <a:noFill/>
          <a:ln/>
        </p:spPr>
        <p:txBody>
          <a:bodyPr wrap="square" lIns="0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BITSTREAM STRUCTURE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329532"/>
            <a:ext cx="3885447" cy="558998"/>
          </a:xfrm>
          <a:prstGeom prst="rect">
            <a:avLst/>
          </a:prstGeom>
          <a:noFill/>
          <a:ln/>
        </p:spPr>
        <p:txBody>
          <a:bodyPr wrap="square" lIns="0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FC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Letters (A-Z)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4342647" y="2422401"/>
            <a:ext cx="386324" cy="3770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FC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 +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4817539" y="2527780"/>
            <a:ext cx="193059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[5-bit Encrypted Value]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2888531"/>
            <a:ext cx="3885447" cy="551855"/>
          </a:xfrm>
          <a:prstGeom prst="rect">
            <a:avLst/>
          </a:prstGeom>
          <a:noFill/>
          <a:ln/>
        </p:spPr>
        <p:txBody>
          <a:bodyPr wrap="square" lIns="0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FC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Space (␣)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4342647" y="2974256"/>
            <a:ext cx="1440191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FC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100000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5925713" y="3170709"/>
            <a:ext cx="1407319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[Reserved Token]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3683273"/>
            <a:ext cx="2647959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Pattern Masking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4010099"/>
            <a:ext cx="2647959" cy="66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Fixed-length encoding prevents frequency analysis based on character length.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248034" y="3683273"/>
            <a:ext cx="2647959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Unambiguous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248034" y="4010099"/>
            <a:ext cx="2647959" cy="66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leading bit clearly distinguishes between letters and special markers.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038869" y="3683273"/>
            <a:ext cx="2647959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38869" y="4010099"/>
            <a:ext cx="2647959" cy="66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Optimized for hardware transmission and low-level data processing.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65822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ENCRYPTION ARCHITECTURE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457200" y="1398389"/>
            <a:ext cx="2433647" cy="2857500"/>
          </a:xfrm>
          <a:prstGeom prst="rect">
            <a:avLst/>
          </a:prstGeom>
          <a:solidFill>
            <a:srgbClr val="00FFC8">
              <a:alpha val="5000"/>
            </a:srgbClr>
          </a:solidFill>
          <a:ln w="18288">
            <a:solidFill>
              <a:srgbClr val="00F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0075" y="1612702"/>
            <a:ext cx="212883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0075" y="1902023"/>
            <a:ext cx="2128838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INPUT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0075" y="2336006"/>
            <a:ext cx="2128838" cy="240013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Plaintext Message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0075" y="2683176"/>
            <a:ext cx="2128838" cy="240013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Letters (A-Z)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0075" y="3030345"/>
            <a:ext cx="2128838" cy="240013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0075" y="2336006"/>
            <a:ext cx="10715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&gt;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0075" y="2683176"/>
            <a:ext cx="10715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&gt;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0075" y="3030345"/>
            <a:ext cx="10715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&gt;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4663" y="2684264"/>
            <a:ext cx="178594" cy="2857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36131" y="1398389"/>
            <a:ext cx="2443163" cy="2857500"/>
          </a:xfrm>
          <a:prstGeom prst="rect">
            <a:avLst/>
          </a:prstGeom>
          <a:solidFill>
            <a:srgbClr val="00FFC8">
              <a:alpha val="5000"/>
            </a:srgbClr>
          </a:solidFill>
          <a:ln w="18288">
            <a:solidFill>
              <a:srgbClr val="00F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488522" y="1612702"/>
            <a:ext cx="213835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88522" y="1902023"/>
            <a:ext cx="213835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PROCESS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88522" y="2336006"/>
            <a:ext cx="2138353" cy="240013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Character Validation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488522" y="2683176"/>
            <a:ext cx="2138353" cy="480027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Triple-Key Affine Transform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488521" y="3072902"/>
            <a:ext cx="2138353" cy="240013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6-bit Tokenization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3488522" y="2336006"/>
            <a:ext cx="10715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&gt;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488522" y="2683176"/>
            <a:ext cx="10715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&gt;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488077" y="3072902"/>
            <a:ext cx="10715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&gt;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625" y="2684264"/>
            <a:ext cx="178594" cy="28575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234094" y="1398389"/>
            <a:ext cx="2452678" cy="2857500"/>
          </a:xfrm>
          <a:prstGeom prst="rect">
            <a:avLst/>
          </a:prstGeom>
          <a:solidFill>
            <a:srgbClr val="00FFC8">
              <a:alpha val="5000"/>
            </a:srgbClr>
          </a:solidFill>
          <a:ln w="18288">
            <a:solidFill>
              <a:srgbClr val="00F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396056" y="1612702"/>
            <a:ext cx="214789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396056" y="1902023"/>
            <a:ext cx="2147897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OUTPUT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396056" y="2336006"/>
            <a:ext cx="2147897" cy="240013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Continuous Bitstream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396056" y="2683176"/>
            <a:ext cx="2147897" cy="240013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Secure 0/1 Sequence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6396056" y="3030345"/>
            <a:ext cx="2147897" cy="480027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Alpha-Grade Protection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6396056" y="2336006"/>
            <a:ext cx="10715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&gt;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396056" y="2683176"/>
            <a:ext cx="10715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&gt;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396056" y="3030345"/>
            <a:ext cx="10715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&gt;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673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65822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DECRYPTION ARCHITECTURE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184077"/>
            <a:ext cx="5715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1200150" y="1184077"/>
            <a:ext cx="74866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BITSTREAM INPUT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200150" y="1584127"/>
            <a:ext cx="748665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system receives a continuous stream of </a:t>
            </a:r>
            <a:r>
              <a:rPr lang="en-US" sz="14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0s and 1s</a:t>
            </a: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It validates the length to ensure it is a multiple of 6 bits.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2215623"/>
            <a:ext cx="5715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1200150" y="2215623"/>
            <a:ext cx="74866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TOKEN SEGMENTATION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00150" y="2615673"/>
            <a:ext cx="748665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bitstream is segmented into </a:t>
            </a:r>
            <a:r>
              <a:rPr lang="en-US" sz="14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6-bit chunks</a:t>
            </a: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Leading '1' indicates a space; leading '0' indicates an encrypted letter.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3247169"/>
            <a:ext cx="5715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1200150" y="3247169"/>
            <a:ext cx="74866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MODULAR TRANSFORMATION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00150" y="3647219"/>
            <a:ext cx="748665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system calculates the </a:t>
            </a:r>
            <a:r>
              <a:rPr lang="en-US" sz="14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modular inverse of k2</a:t>
            </a: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applies the reverse affine formula to recover the original character index.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" y="4278716"/>
            <a:ext cx="5715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1200150" y="4278716"/>
            <a:ext cx="74866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PLAINTEXT RECOVERY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00150" y="4678766"/>
            <a:ext cx="748665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Indices are mapped back to characters (A-Z). The final message is reconstructed with </a:t>
            </a:r>
            <a:r>
              <a:rPr lang="en-US" sz="14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perfect round-trip accuracy</a:t>
            </a:r>
            <a:r>
              <a:rPr lang="en-US" sz="15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65822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USER INTERFACE &amp; EXPERIENCE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255514"/>
            <a:ext cx="24556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DESIGN PHILOSOPHY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741289"/>
            <a:ext cx="3829050" cy="1885950"/>
          </a:xfrm>
          <a:prstGeom prst="rect">
            <a:avLst/>
          </a:prstGeom>
          <a:solidFill>
            <a:srgbClr val="00FFC8">
              <a:alpha val="5000"/>
            </a:srgbClr>
          </a:solidFill>
          <a:ln w="18288">
            <a:solidFill>
              <a:srgbClr val="00F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0075" y="1884164"/>
            <a:ext cx="35433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"A </a:t>
            </a:r>
            <a:r>
              <a:rPr lang="en-US" sz="1600" b="1" i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HUD-inspired</a:t>
            </a:r>
            <a:r>
              <a:rPr lang="en-US" sz="1700" i="1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'Cyber' aesthetic designed for high-stakes data operations, prioritizing </a:t>
            </a:r>
            <a:r>
              <a:rPr lang="en-US" sz="1600" b="1" i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real-time feedback</a:t>
            </a:r>
            <a:r>
              <a:rPr lang="en-US" sz="1700" i="1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technical clarity."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02261"/>
            <a:ext cx="257175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7250" y="3741539"/>
            <a:ext cx="34290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Matrix Rain Canvas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57250" y="4089797"/>
            <a:ext cx="3429000" cy="4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Visual representation of continuous data flow and system activity.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857750" y="1255514"/>
            <a:ext cx="17412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 FEATURES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802011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29225" y="1741289"/>
            <a:ext cx="34575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Live HUD Clock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229225" y="2089547"/>
            <a:ext cx="3457575" cy="4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Synchronized system monitoring for time-sensitive encryption tasks.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2776017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29225" y="2715295"/>
            <a:ext cx="34575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Interactive Panels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5229225" y="3063553"/>
            <a:ext cx="3457575" cy="4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Dedicated modules for seamless encryption and decryption workflows.</a:t>
            </a:r>
            <a:endParaRPr lang="en-US" sz="1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3750022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29225" y="3689300"/>
            <a:ext cx="34575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Progress Tracking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5229225" y="4037558"/>
            <a:ext cx="3457575" cy="4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Visual status bars providing instant feedback on algorithm execution.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65822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SECURITY ANALYSIS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641277"/>
            <a:ext cx="2552691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 SPACE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112764"/>
            <a:ext cx="2552691" cy="156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use of </a:t>
            </a:r>
            <a:r>
              <a:rPr lang="en-US" sz="13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three independent keys</a:t>
            </a:r>
            <a:r>
              <a:rPr lang="en-US" sz="14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(k1, k2, k3) exponentially increases the complexity of brute-force attacks compared to standard affine ciphers.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3887205"/>
            <a:ext cx="2552691" cy="546497"/>
          </a:xfrm>
          <a:prstGeom prst="rect">
            <a:avLst/>
          </a:prstGeom>
          <a:solidFill>
            <a:srgbClr val="FF9D00">
              <a:alpha val="10000"/>
            </a:srgbClr>
          </a:solidFill>
          <a:ln w="9144">
            <a:solidFill>
              <a:srgbClr val="FF9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0075" y="4030080"/>
            <a:ext cx="2266941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D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K1 × K2 × K3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295641" y="1641277"/>
            <a:ext cx="2552691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OBFUSCATION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295641" y="2112764"/>
            <a:ext cx="2552691" cy="182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Converting data into a </a:t>
            </a:r>
            <a:r>
              <a:rPr lang="en-US" sz="13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continuous bitstream</a:t>
            </a:r>
            <a:r>
              <a:rPr lang="en-US" sz="14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masks the underlying character structure, preventing simple frequency analysis based on word boundaries.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5640" y="3893333"/>
            <a:ext cx="2552691" cy="546497"/>
          </a:xfrm>
          <a:prstGeom prst="rect">
            <a:avLst/>
          </a:prstGeom>
          <a:solidFill>
            <a:srgbClr val="FF9D00">
              <a:alpha val="10000"/>
            </a:srgbClr>
          </a:solidFill>
          <a:ln w="9144">
            <a:solidFill>
              <a:srgbClr val="FF9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95641" y="3991704"/>
            <a:ext cx="2266941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D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6-BIT TOKENS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134081" y="1641277"/>
            <a:ext cx="2552691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INTEGRITY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134081" y="2112764"/>
            <a:ext cx="2552691" cy="156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</a:t>
            </a:r>
            <a:r>
              <a:rPr lang="en-US" sz="13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modular field approach</a:t>
            </a:r>
            <a:r>
              <a:rPr lang="en-US" sz="14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ensures that every valid input has a unique, deterministic, and perfectly recoverable output without data loss.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34081" y="3887205"/>
            <a:ext cx="2552691" cy="546497"/>
          </a:xfrm>
          <a:prstGeom prst="rect">
            <a:avLst/>
          </a:prstGeom>
          <a:solidFill>
            <a:srgbClr val="FF9D00">
              <a:alpha val="10000"/>
            </a:srgbClr>
          </a:solidFill>
          <a:ln w="9144">
            <a:solidFill>
              <a:srgbClr val="FF9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76956" y="4030080"/>
            <a:ext cx="2266941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D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MOD 32 FIELD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131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65822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LIVE DEMONSTRATION RESULTS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255514"/>
            <a:ext cx="822960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SCENARIO: "HELLO WORLD" | KEYS: K1=4, K2=7, K3=3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653778"/>
            <a:ext cx="1733615" cy="296466"/>
          </a:xfrm>
          <a:prstGeom prst="rect">
            <a:avLst/>
          </a:prstGeom>
          <a:noFill/>
          <a:ln/>
        </p:spPr>
        <p:txBody>
          <a:bodyPr wrap="square" lIns="0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Char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190815" y="1653778"/>
            <a:ext cx="1310543" cy="296466"/>
          </a:xfrm>
          <a:prstGeom prst="rect">
            <a:avLst/>
          </a:prstGeom>
          <a:noFill/>
          <a:ln/>
        </p:spPr>
        <p:txBody>
          <a:bodyPr wrap="square" lIns="0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Index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501358" y="1653778"/>
            <a:ext cx="2486918" cy="296466"/>
          </a:xfrm>
          <a:prstGeom prst="rect">
            <a:avLst/>
          </a:prstGeom>
          <a:noFill/>
          <a:ln/>
        </p:spPr>
        <p:txBody>
          <a:bodyPr wrap="square" lIns="0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Encrypted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88276" y="1653778"/>
            <a:ext cx="2698524" cy="296466"/>
          </a:xfrm>
          <a:prstGeom prst="rect">
            <a:avLst/>
          </a:prstGeom>
          <a:noFill/>
          <a:ln/>
        </p:spPr>
        <p:txBody>
          <a:bodyPr wrap="square" lIns="0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6-bit Token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950244"/>
            <a:ext cx="1733615" cy="387548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190815" y="1950244"/>
            <a:ext cx="1310543" cy="387548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7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501358" y="1964225"/>
            <a:ext cx="2486918" cy="359586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16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88276" y="1964225"/>
            <a:ext cx="2698524" cy="359586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010000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" y="2337792"/>
            <a:ext cx="1733615" cy="380405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190815" y="2337792"/>
            <a:ext cx="1310543" cy="380405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501358" y="2337792"/>
            <a:ext cx="2486918" cy="380405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29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988276" y="2348201"/>
            <a:ext cx="2698524" cy="359586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r>
              <a:rPr lang="en-US" sz="15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011011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7200" y="2718197"/>
            <a:ext cx="1733615" cy="380405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190815" y="2718197"/>
            <a:ext cx="1310543" cy="380405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11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501358" y="2718197"/>
            <a:ext cx="2486918" cy="380405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988276" y="2728606"/>
            <a:ext cx="2698524" cy="359586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r>
              <a:rPr lang="en-US" sz="15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001100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7200" y="3098602"/>
            <a:ext cx="1733615" cy="380405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SPACE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2190815" y="3098602"/>
            <a:ext cx="1310543" cy="380405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501358" y="3098602"/>
            <a:ext cx="2486918" cy="380405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—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988276" y="3098602"/>
            <a:ext cx="2698524" cy="380405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100000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57200" y="3693319"/>
            <a:ext cx="8229600" cy="782241"/>
          </a:xfrm>
          <a:prstGeom prst="rect">
            <a:avLst/>
          </a:prstGeom>
          <a:solidFill>
            <a:srgbClr val="00FFC8">
              <a:alpha val="10000"/>
            </a:srgbClr>
          </a:solidFill>
          <a:ln w="9144">
            <a:solidFill>
              <a:srgbClr val="00F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00075" y="3836194"/>
            <a:ext cx="7943850" cy="261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700" kern="0" spc="2" dirty="0">
                <a:solidFill>
                  <a:srgbClr val="00FFC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010000011011001100001100000001100000011001000001010110001100010100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457200" y="4905970"/>
            <a:ext cx="225385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DECRYPTED OUTPUT: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2925366" y="4832747"/>
            <a:ext cx="2577108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3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HELLO WORLD</a:t>
            </a:r>
            <a:endParaRPr lang="en-US" sz="2450" dirty="0"/>
          </a:p>
        </p:txBody>
      </p:sp>
      <p:sp>
        <p:nvSpPr>
          <p:cNvPr id="29" name="Text 26"/>
          <p:cNvSpPr/>
          <p:nvPr/>
        </p:nvSpPr>
        <p:spPr>
          <a:xfrm>
            <a:off x="7163395" y="4942582"/>
            <a:ext cx="152340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FF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 100% ACCURACY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65822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FUTURE ENHANCEMENTS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569839"/>
            <a:ext cx="397192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EXTENDED CHARACTER SET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968103"/>
            <a:ext cx="3971925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Expanding the modular field to support </a:t>
            </a:r>
            <a:r>
              <a:rPr lang="en-US" sz="12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numbers, symbols, and multi-language characters</a:t>
            </a: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for global data security applications.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714875" y="1569839"/>
            <a:ext cx="397192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DYNAMIC KEY EXCHANGE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14875" y="1968103"/>
            <a:ext cx="397192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Implementing </a:t>
            </a:r>
            <a:r>
              <a:rPr lang="en-US" sz="12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Diffie-Hellman protocols</a:t>
            </a: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to enable secure, automated key sharing between distributed system nodes.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3385356"/>
            <a:ext cx="397192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MOBILE INTEGRATION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783620"/>
            <a:ext cx="397192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Porting the CipherCore suite to </a:t>
            </a:r>
            <a:r>
              <a:rPr lang="en-US" sz="12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iOS and Android</a:t>
            </a: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platforms, providing secure bitstream encryption for mobile communication.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714875" y="3385356"/>
            <a:ext cx="397192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HARDWARE ACCELERATION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714875" y="3783620"/>
            <a:ext cx="397192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Optimizing the bitstream logic for </a:t>
            </a:r>
            <a:r>
              <a:rPr lang="en-US" sz="12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FPGA and ASIC deployment</a:t>
            </a:r>
            <a:r>
              <a:rPr lang="en-US" sz="12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achieving ultra-low latency for high-speed network encryption.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2175272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00FF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 SESSION_COMPLETE: CIPHERCORE ]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8204597" y="4845248"/>
            <a:ext cx="7679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FF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STATUS: SECURE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000125" y="817262"/>
            <a:ext cx="714375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150" b="1" dirty="0">
                <a:solidFill>
                  <a:srgbClr val="00FFC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CONCLUSION &amp; Q&amp;A</a:t>
            </a:r>
            <a:endParaRPr lang="en-US" sz="4150" dirty="0"/>
          </a:p>
        </p:txBody>
      </p:sp>
      <p:sp>
        <p:nvSpPr>
          <p:cNvPr id="6" name="Text 3"/>
          <p:cNvSpPr/>
          <p:nvPr/>
        </p:nvSpPr>
        <p:spPr>
          <a:xfrm>
            <a:off x="1000125" y="1831674"/>
            <a:ext cx="7143750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9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CipherCore provides a unique, </a:t>
            </a:r>
            <a:r>
              <a:rPr lang="en-US" sz="18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bitstream-oriented</a:t>
            </a:r>
            <a:r>
              <a:rPr lang="en-US" sz="19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approach to classical encryption, demonstrating the power of </a:t>
            </a:r>
            <a:r>
              <a:rPr lang="en-US" sz="1800" b="1" dirty="0">
                <a:solidFill>
                  <a:srgbClr val="FF9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modular arithmetic</a:t>
            </a:r>
            <a:r>
              <a:rPr lang="en-US" sz="19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 modern data security.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037880" y="3640438"/>
            <a:ext cx="306824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kern="0" spc="2" dirty="0">
                <a:solidFill>
                  <a:srgbClr val="00FF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 FOR YOUR ATTENTION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00125" y="4144073"/>
            <a:ext cx="71437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"Security is not a product, but a process."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861</Words>
  <Application>Microsoft Office PowerPoint</Application>
  <PresentationFormat>On-screen Show (16:9)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monospace</vt:lpstr>
      <vt:lpstr>Open Sans</vt:lpstr>
      <vt:lpstr>Space Grotesk</vt:lpstr>
      <vt:lpstr>Space Grotesk Bold</vt:lpstr>
      <vt:lpstr>Space Grotesk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Elkelany</cp:lastModifiedBy>
  <cp:revision>4</cp:revision>
  <dcterms:created xsi:type="dcterms:W3CDTF">2026-05-15T13:14:08Z</dcterms:created>
  <dcterms:modified xsi:type="dcterms:W3CDTF">2026-05-16T21:04:22Z</dcterms:modified>
</cp:coreProperties>
</file>